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32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AI 策略入門班  ·  2026.05.30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000" y="6318000"/>
            <a:ext cx="900000" cy="90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1368000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ans TC"/>
              </a:rPr>
              <a:t>不會寫程式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951999"/>
            <a:ext cx="10440000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>
                <a:solidFill>
                  <a:srgbClr val="FFFFFF"/>
                </a:solidFill>
                <a:latin typeface="Noto Sans TC"/>
              </a:rPr>
              <a:t>也能做策略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4752000"/>
            <a:ext cx="90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C8C8D2"/>
                </a:solidFill>
                <a:latin typeface="Noto Sans TC"/>
              </a:rPr>
              <a:t>用 AI 打造你的 XQ 投資助手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53200" y="6426000"/>
            <a:ext cx="306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09BAA"/>
                </a:solidFill>
                <a:latin typeface="Noto Sans TC"/>
              </a:rPr>
              <a:t>斜槓姐姐  byslashie.com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TODAY'S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今天你會學到什麼</a:t>
            </a:r>
          </a:p>
        </p:txBody>
      </p:sp>
      <p:sp>
        <p:nvSpPr>
          <p:cNvPr id="4" name="Oval 3"/>
          <p:cNvSpPr/>
          <p:nvPr/>
        </p:nvSpPr>
        <p:spPr>
          <a:xfrm>
            <a:off x="900000" y="2403500"/>
            <a:ext cx="90000" cy="9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80000" y="2340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Noto Sans TC"/>
              </a:rPr>
              <a:t>以前建構策略的痛點</a:t>
            </a:r>
          </a:p>
        </p:txBody>
      </p:sp>
      <p:sp>
        <p:nvSpPr>
          <p:cNvPr id="6" name="Oval 5"/>
          <p:cNvSpPr/>
          <p:nvPr/>
        </p:nvSpPr>
        <p:spPr>
          <a:xfrm>
            <a:off x="900000" y="2979500"/>
            <a:ext cx="90000" cy="9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80000" y="2916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Noto Sans TC"/>
              </a:rPr>
              <a:t>用 AI + 論文找到有根據的因子</a:t>
            </a:r>
          </a:p>
        </p:txBody>
      </p:sp>
      <p:sp>
        <p:nvSpPr>
          <p:cNvPr id="8" name="Oval 7"/>
          <p:cNvSpPr/>
          <p:nvPr/>
        </p:nvSpPr>
        <p:spPr>
          <a:xfrm>
            <a:off x="900000" y="3555500"/>
            <a:ext cx="90000" cy="9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80000" y="3492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Noto Sans TC"/>
              </a:rPr>
              <a:t>Claude Skill 一步步建立 XS 策略</a:t>
            </a:r>
          </a:p>
        </p:txBody>
      </p:sp>
      <p:sp>
        <p:nvSpPr>
          <p:cNvPr id="10" name="Oval 9"/>
          <p:cNvSpPr/>
          <p:nvPr/>
        </p:nvSpPr>
        <p:spPr>
          <a:xfrm>
            <a:off x="900000" y="4131500"/>
            <a:ext cx="90000" cy="9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80000" y="4068000"/>
            <a:ext cx="93600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A1A1A"/>
                </a:solidFill>
                <a:latin typeface="Noto Sans TC"/>
              </a:rPr>
              <a:t>XQ 回測 → 結果存進 HTML 分析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BEFORE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以前建構策略怎麼做？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900000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有想法</a:t>
            </a:r>
          </a:p>
        </p:txBody>
      </p:sp>
      <p:sp>
        <p:nvSpPr>
          <p:cNvPr id="5" name="Can 4"/>
          <p:cNvSpPr/>
          <p:nvPr/>
        </p:nvSpPr>
        <p:spPr>
          <a:xfrm>
            <a:off x="2160000" y="2937600"/>
            <a:ext cx="251999" cy="316800"/>
          </a:xfrm>
          <a:prstGeom prst="can">
            <a:avLst/>
          </a:prstGeom>
          <a:solidFill>
            <a:srgbClr val="64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11999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想法量化</a:t>
            </a:r>
          </a:p>
        </p:txBody>
      </p:sp>
      <p:sp>
        <p:nvSpPr>
          <p:cNvPr id="7" name="Can 6"/>
          <p:cNvSpPr/>
          <p:nvPr/>
        </p:nvSpPr>
        <p:spPr>
          <a:xfrm>
            <a:off x="3671999" y="2937600"/>
            <a:ext cx="251999" cy="316800"/>
          </a:xfrm>
          <a:prstGeom prst="can">
            <a:avLst/>
          </a:prstGeom>
          <a:solidFill>
            <a:srgbClr val="64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23998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回測驗證</a:t>
            </a:r>
          </a:p>
        </p:txBody>
      </p:sp>
      <p:sp>
        <p:nvSpPr>
          <p:cNvPr id="9" name="Can 8"/>
          <p:cNvSpPr/>
          <p:nvPr/>
        </p:nvSpPr>
        <p:spPr>
          <a:xfrm>
            <a:off x="5183998" y="2937600"/>
            <a:ext cx="251999" cy="316800"/>
          </a:xfrm>
          <a:prstGeom prst="can">
            <a:avLst/>
          </a:prstGeom>
          <a:solidFill>
            <a:srgbClr val="64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35997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修改策略</a:t>
            </a:r>
          </a:p>
        </p:txBody>
      </p:sp>
      <p:sp>
        <p:nvSpPr>
          <p:cNvPr id="11" name="Can 10"/>
          <p:cNvSpPr/>
          <p:nvPr/>
        </p:nvSpPr>
        <p:spPr>
          <a:xfrm>
            <a:off x="6695997" y="2937600"/>
            <a:ext cx="251999" cy="316800"/>
          </a:xfrm>
          <a:prstGeom prst="can">
            <a:avLst/>
          </a:prstGeom>
          <a:solidFill>
            <a:srgbClr val="64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7996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實戰策略</a:t>
            </a:r>
          </a:p>
        </p:txBody>
      </p:sp>
      <p:sp>
        <p:nvSpPr>
          <p:cNvPr id="13" name="Can 12"/>
          <p:cNvSpPr/>
          <p:nvPr/>
        </p:nvSpPr>
        <p:spPr>
          <a:xfrm>
            <a:off x="8207996" y="2937600"/>
            <a:ext cx="251999" cy="316800"/>
          </a:xfrm>
          <a:prstGeom prst="can">
            <a:avLst/>
          </a:prstGeom>
          <a:solidFill>
            <a:srgbClr val="64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59995" y="2700000"/>
            <a:ext cx="1260000" cy="792000"/>
          </a:xfrm>
          <a:prstGeom prst="rect">
            <a:avLst/>
          </a:prstGeom>
          <a:solidFill>
            <a:srgbClr val="82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Noto Sans TC"/>
              </a:rPr>
              <a:t>優化策略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000" y="5220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C83C3C"/>
                </a:solidFill>
                <a:latin typeface="Noto Sans TC"/>
              </a:rPr>
              <a:t>耗時、靠感覺、不知道有沒有學術根據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NOW WITH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加入 AI 之後的流程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000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有想法</a:t>
            </a:r>
          </a:p>
        </p:txBody>
      </p:sp>
      <p:sp>
        <p:nvSpPr>
          <p:cNvPr id="5" name="Can 4"/>
          <p:cNvSpPr/>
          <p:nvPr/>
        </p:nvSpPr>
        <p:spPr>
          <a:xfrm>
            <a:off x="1620000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871999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Claude Skill
釐清目標</a:t>
            </a:r>
          </a:p>
        </p:txBody>
      </p:sp>
      <p:sp>
        <p:nvSpPr>
          <p:cNvPr id="7" name="Can 6"/>
          <p:cNvSpPr/>
          <p:nvPr/>
        </p:nvSpPr>
        <p:spPr>
          <a:xfrm>
            <a:off x="3059999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311998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Perplexity
找論文</a:t>
            </a:r>
          </a:p>
        </p:txBody>
      </p:sp>
      <p:sp>
        <p:nvSpPr>
          <p:cNvPr id="9" name="Can 8"/>
          <p:cNvSpPr/>
          <p:nvPr/>
        </p:nvSpPr>
        <p:spPr>
          <a:xfrm>
            <a:off x="4499998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751997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Claude
寫 XS</a:t>
            </a:r>
          </a:p>
        </p:txBody>
      </p:sp>
      <p:sp>
        <p:nvSpPr>
          <p:cNvPr id="11" name="Can 10"/>
          <p:cNvSpPr/>
          <p:nvPr/>
        </p:nvSpPr>
        <p:spPr>
          <a:xfrm>
            <a:off x="5939997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91996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XQ
回測驗證</a:t>
            </a:r>
          </a:p>
        </p:txBody>
      </p:sp>
      <p:sp>
        <p:nvSpPr>
          <p:cNvPr id="13" name="Can 12"/>
          <p:cNvSpPr/>
          <p:nvPr/>
        </p:nvSpPr>
        <p:spPr>
          <a:xfrm>
            <a:off x="7379996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31995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AI
分析報告</a:t>
            </a:r>
          </a:p>
        </p:txBody>
      </p:sp>
      <p:sp>
        <p:nvSpPr>
          <p:cNvPr id="15" name="Can 14"/>
          <p:cNvSpPr/>
          <p:nvPr/>
        </p:nvSpPr>
        <p:spPr>
          <a:xfrm>
            <a:off x="8819995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071994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修改策略</a:t>
            </a:r>
          </a:p>
        </p:txBody>
      </p:sp>
      <p:sp>
        <p:nvSpPr>
          <p:cNvPr id="17" name="Can 16"/>
          <p:cNvSpPr/>
          <p:nvPr/>
        </p:nvSpPr>
        <p:spPr>
          <a:xfrm>
            <a:off x="10259994" y="2800800"/>
            <a:ext cx="251999" cy="374400"/>
          </a:xfrm>
          <a:prstGeom prst="can">
            <a:avLst/>
          </a:prstGeom>
          <a:solidFill>
            <a:srgbClr val="B45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511993" y="2520000"/>
            <a:ext cx="1188000" cy="936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TC"/>
              </a:rPr>
              <a:t>實戰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0000" y="522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34A"/>
                </a:solidFill>
                <a:latin typeface="Noto Sans TC"/>
              </a:rPr>
              <a:t>每個環節都有 AI 幫你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8734A"/>
                </a:solidFill>
                <a:latin typeface="Arial Black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TC"/>
              </a:rPr>
              <a:t>為什麼從論文找因子？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5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2"/>
                </a:solidFill>
                <a:latin typeface="Noto Sans TC"/>
              </a:rPr>
              <a:t>學術依據 vs 網路資訊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534000"/>
            <a:ext cx="900000" cy="72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為什麼要找論文？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4680000" cy="3060000"/>
          </a:xfrm>
          <a:prstGeom prst="rect">
            <a:avLst/>
          </a:prstGeom>
          <a:solidFill>
            <a:srgbClr val="DCD7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0000" y="2304000"/>
            <a:ext cx="43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645A50"/>
                </a:solidFill>
                <a:latin typeface="Noto Sans TC"/>
              </a:rPr>
              <a:t>網路資訊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7999" y="2951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046"/>
                </a:solidFill>
                <a:latin typeface="Noto Sans TC"/>
              </a:rPr>
              <a:t>• 來源不明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999" y="3491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046"/>
                </a:solidFill>
                <a:latin typeface="Noto Sans TC"/>
              </a:rPr>
              <a:t>• 容易過時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7999" y="4031999"/>
            <a:ext cx="39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046"/>
                </a:solidFill>
                <a:latin typeface="Noto Sans TC"/>
              </a:rPr>
              <a:t>• 無法驗證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000" y="2160000"/>
            <a:ext cx="5580000" cy="3060000"/>
          </a:xfrm>
          <a:prstGeom prst="rect">
            <a:avLst/>
          </a:prstGeom>
          <a:solidFill>
            <a:srgbClr val="FF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0000" y="2304000"/>
            <a:ext cx="50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E8734A"/>
                </a:solidFill>
                <a:latin typeface="Noto Sans TC"/>
              </a:rPr>
              <a:t>學術論文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48000" y="295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TC"/>
              </a:rPr>
              <a:t>✓ 有實證、有樣本支撐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48000" y="349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TC"/>
              </a:rPr>
              <a:t>✓ 有方法論可重現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48000" y="4031999"/>
            <a:ext cx="50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1A1A"/>
                </a:solidFill>
                <a:latin typeface="Noto Sans TC"/>
              </a:rPr>
              <a:t>✓ 同行審查，可信度高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8734A"/>
                </a:solidFill>
                <a:latin typeface="Arial Black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TC"/>
              </a:rPr>
              <a:t>找論文兩種方法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5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2"/>
                </a:solidFill>
                <a:latin typeface="Noto Sans TC"/>
              </a:rPr>
              <a:t>免費版 &amp; 進階版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534000"/>
            <a:ext cx="900000" cy="72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SIMPLE · 免費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Perplexity Academic 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340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Noto Sans TC"/>
              </a:rPr>
              <a:t>① 開 perplexity.ai → 切換 Academic 模式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9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Noto Sans TC"/>
              </a:rPr>
              <a:t>② 輸入英文關鍵字（例：momentum factor Taiwan）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636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Noto Sans TC"/>
              </a:rPr>
              <a:t>③ 把摘要貼給 Claude 分析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4860000"/>
            <a:ext cx="10080000" cy="900000"/>
          </a:xfrm>
          <a:prstGeom prst="rect">
            <a:avLst/>
          </a:prstGeom>
          <a:solidFill>
            <a:srgbClr val="FF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80000" y="5040000"/>
            <a:ext cx="93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734A"/>
                </a:solidFill>
                <a:latin typeface="Noto Sans TC"/>
              </a:rPr>
              <a:t>完全免費，零設定，直接用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ADVANCED · 我的方式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MCP：Consensus + Scholar Gateway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088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86E64"/>
                </a:solidFill>
                <a:latin typeface="Noto Sans TC"/>
              </a:rPr>
              <a:t>我自己用的工具，搜尋更精準、可多角度搜尋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2700000"/>
            <a:ext cx="522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288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34A"/>
                </a:solidFill>
                <a:latin typeface="Noto Sans TC"/>
              </a:rPr>
              <a:t>Consensus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42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找實證結論
自動整合多篇論文觀點</a:t>
            </a:r>
          </a:p>
        </p:txBody>
      </p:sp>
      <p:sp>
        <p:nvSpPr>
          <p:cNvPr id="8" name="Rectangle 7"/>
          <p:cNvSpPr/>
          <p:nvPr/>
        </p:nvSpPr>
        <p:spPr>
          <a:xfrm>
            <a:off x="6480000" y="2700000"/>
            <a:ext cx="5220000" cy="198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60000" y="2880000"/>
            <a:ext cx="46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E8734A"/>
                </a:solidFill>
                <a:latin typeface="Noto Sans TC"/>
              </a:rPr>
              <a:t>Scholar Gateway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60000" y="3420000"/>
            <a:ext cx="46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語意搜尋
找最新、最相關文獻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522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6E64"/>
                </a:solidFill>
                <a:latin typeface="Noto Sans TC"/>
              </a:rPr>
              <a:t>需要設定 MCP，進階使用者適合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8734A"/>
                </a:solidFill>
                <a:latin typeface="Arial Black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TC"/>
              </a:rPr>
              <a:t>Claude Skill 策略建立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5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2"/>
                </a:solidFill>
                <a:latin typeface="Noto Sans TC"/>
              </a:rPr>
              <a:t>一步步釐清你的策略目標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534000"/>
            <a:ext cx="900000" cy="72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THE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什麼是 Claude Skill？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2160000"/>
            <a:ext cx="104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A1A1A"/>
                </a:solidFill>
                <a:latin typeface="Noto Sans TC"/>
              </a:rPr>
              <a:t>一段 Prompt，貼進 Claude 就能用，完全免費，不需要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288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786E64"/>
                </a:solidFill>
                <a:latin typeface="Noto Sans TC"/>
              </a:rPr>
              <a:t>使用方式：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240000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Noto Sans TC"/>
              </a:rPr>
              <a:t>① 開 Claude 新對話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743999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Noto Sans TC"/>
              </a:rPr>
              <a:t>② 貼入 Prompt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4247998"/>
            <a:ext cx="936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A1A1A"/>
                </a:solidFill>
                <a:latin typeface="Noto Sans TC"/>
              </a:rPr>
              <a:t>③ 開始建立策略</a:t>
            </a:r>
          </a:p>
        </p:txBody>
      </p:sp>
      <p:sp>
        <p:nvSpPr>
          <p:cNvPr id="9" name="Rectangle 8"/>
          <p:cNvSpPr/>
          <p:nvPr/>
        </p:nvSpPr>
        <p:spPr>
          <a:xfrm>
            <a:off x="720000" y="5112000"/>
            <a:ext cx="10440000" cy="864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532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TC"/>
              </a:rPr>
              <a:t>今天的禮物就是這個！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Skill 一步步問你什麼</a:t>
            </a:r>
          </a:p>
        </p:txBody>
      </p:sp>
      <p:sp>
        <p:nvSpPr>
          <p:cNvPr id="4" name="Oval 3"/>
          <p:cNvSpPr/>
          <p:nvPr/>
        </p:nvSpPr>
        <p:spPr>
          <a:xfrm>
            <a:off x="540000" y="2340000"/>
            <a:ext cx="360000" cy="36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 Black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" y="275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Noto Sans TC"/>
              </a:rPr>
              <a:t>策略類型
動能/價值/品質/低波動</a:t>
            </a:r>
          </a:p>
        </p:txBody>
      </p:sp>
      <p:sp>
        <p:nvSpPr>
          <p:cNvPr id="6" name="Oval 5"/>
          <p:cNvSpPr/>
          <p:nvPr/>
        </p:nvSpPr>
        <p:spPr>
          <a:xfrm>
            <a:off x="2808000" y="2340000"/>
            <a:ext cx="360000" cy="36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 Black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6000" y="275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Noto Sans TC"/>
              </a:rPr>
              <a:t>策略目標
報酬/勝率/穩定性</a:t>
            </a:r>
          </a:p>
        </p:txBody>
      </p:sp>
      <p:sp>
        <p:nvSpPr>
          <p:cNvPr id="8" name="Oval 7"/>
          <p:cNvSpPr/>
          <p:nvPr/>
        </p:nvSpPr>
        <p:spPr>
          <a:xfrm>
            <a:off x="5076000" y="2340000"/>
            <a:ext cx="360000" cy="36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 Blac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04000" y="275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Noto Sans TC"/>
              </a:rPr>
              <a:t>順勢
or 逆勢</a:t>
            </a:r>
          </a:p>
        </p:txBody>
      </p:sp>
      <p:sp>
        <p:nvSpPr>
          <p:cNvPr id="10" name="Oval 9"/>
          <p:cNvSpPr/>
          <p:nvPr/>
        </p:nvSpPr>
        <p:spPr>
          <a:xfrm>
            <a:off x="7344000" y="2340000"/>
            <a:ext cx="360000" cy="36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 Blac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2000" y="275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Noto Sans TC"/>
              </a:rPr>
              <a:t>持有週期
日/週/月/季</a:t>
            </a:r>
          </a:p>
        </p:txBody>
      </p:sp>
      <p:sp>
        <p:nvSpPr>
          <p:cNvPr id="12" name="Oval 11"/>
          <p:cNvSpPr/>
          <p:nvPr/>
        </p:nvSpPr>
        <p:spPr>
          <a:xfrm>
            <a:off x="9612000" y="2340000"/>
            <a:ext cx="360000" cy="360000"/>
          </a:xfrm>
          <a:prstGeom prst="ellipse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 Black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40000" y="2754000"/>
            <a:ext cx="21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1A1A1A"/>
                </a:solidFill>
                <a:latin typeface="Noto Sans TC"/>
              </a:rPr>
              <a:t>市場範圍
台股/美股/全球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0000" y="55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734A"/>
                </a:solidFill>
                <a:latin typeface="Noto Sans TC"/>
              </a:rPr>
              <a:t>→ 最後輸出 XS 策略框架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40000"/>
            <a:ext cx="1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>
                <a:solidFill>
                  <a:srgbClr val="E8734A"/>
                </a:solidFill>
                <a:latin typeface="Arial Black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9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Noto Sans TC"/>
              </a:rPr>
              <a:t>XQ 實作 + 回測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0000" y="352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8C8D2"/>
                </a:solidFill>
                <a:latin typeface="Noto Sans TC"/>
              </a:rPr>
              <a:t>把 AI 輸出的框架跑起來</a:t>
            </a:r>
          </a:p>
        </p:txBody>
      </p:sp>
      <p:sp>
        <p:nvSpPr>
          <p:cNvPr id="5" name="Rectangle 4"/>
          <p:cNvSpPr/>
          <p:nvPr/>
        </p:nvSpPr>
        <p:spPr>
          <a:xfrm>
            <a:off x="720000" y="6534000"/>
            <a:ext cx="900000" cy="72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XQ 四步驟實作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2340000"/>
            <a:ext cx="27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8734A"/>
                </a:solidFill>
                <a:latin typeface="Arial Black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0000" y="3420000"/>
            <a:ext cx="280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選股中心設定三因子條件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0000" y="2340000"/>
            <a:ext cx="27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8734A"/>
                </a:solidFill>
                <a:latin typeface="Arial Black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0000" y="3420000"/>
            <a:ext cx="280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建立交易腳本（XS 貼入）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0000" y="2340000"/>
            <a:ext cx="27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8734A"/>
                </a:solidFill>
                <a:latin typeface="Arial Black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3420000"/>
            <a:ext cx="280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設計出場邏輯（季度換倉）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0000" y="2340000"/>
            <a:ext cx="2700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E8734A"/>
                </a:solidFill>
                <a:latin typeface="Arial Black"/>
              </a:rP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80000" y="3420000"/>
            <a:ext cx="280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A1A1A"/>
                </a:solidFill>
                <a:latin typeface="Noto Sans TC"/>
              </a:rPr>
              <a:t>執行回測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回測結果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160000"/>
            <a:ext cx="3600000" cy="2340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20000" y="2448000"/>
            <a:ext cx="36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 Black"/>
              </a:rPr>
              <a:t>+112.42%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360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TC"/>
              </a:rPr>
              <a:t>5年最大報酬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00000" y="2160000"/>
            <a:ext cx="3600000" cy="2340000"/>
          </a:xfrm>
          <a:prstGeom prst="rect">
            <a:avLst/>
          </a:prstGeom>
          <a:solidFill>
            <a:srgbClr val="172E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00000" y="2448000"/>
            <a:ext cx="36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Arial Black"/>
              </a:rPr>
              <a:t>+86.42%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00000" y="360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FFFFFF"/>
                </a:solidFill>
                <a:latin typeface="Noto Sans TC"/>
              </a:rPr>
              <a:t>基礎版報酬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80000" y="2160000"/>
            <a:ext cx="3600000" cy="2340000"/>
          </a:xfrm>
          <a:prstGeom prst="rect">
            <a:avLst/>
          </a:prstGeom>
          <a:solidFill>
            <a:srgbClr val="C8C3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80000" y="2448000"/>
            <a:ext cx="360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1A1A1A"/>
                </a:solidFill>
                <a:latin typeface="Arial Black"/>
              </a:rPr>
              <a:t>0050 +62%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0000" y="3600000"/>
            <a:ext cx="36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1A1A1A"/>
                </a:solidFill>
                <a:latin typeface="Noto Sans TC"/>
              </a:rPr>
              <a:t>同期大盤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0000" y="5580000"/>
            <a:ext cx="100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86E64"/>
                </a:solidFill>
                <a:latin typeface="Noto Sans TC"/>
              </a:rPr>
              <a:t>2022年下半年起逆轉領先大盤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回測結果存進 HTML 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44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Noto Sans TC"/>
              </a:rPr>
              <a:t>① XQ 匯出回測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316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Noto Sans TC"/>
              </a:rPr>
              <a:t>② 拖入 demo 分析系統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888000"/>
            <a:ext cx="100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1A1A1A"/>
                </a:solidFill>
                <a:latin typeface="Noto Sans TC"/>
              </a:rPr>
              <a:t>③ AI 自動計算 CAGR / Sharpe / MDD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5040000"/>
            <a:ext cx="10440000" cy="900000"/>
          </a:xfrm>
          <a:prstGeom prst="rect">
            <a:avLst/>
          </a:prstGeom>
          <a:solidFill>
            <a:srgbClr val="FFED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5256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E8734A"/>
                </a:solidFill>
                <a:latin typeface="Noto Sans TC"/>
              </a:rPr>
              <a:t>視覺化報告，一鍵生成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576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AI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1080000"/>
            <a:ext cx="1044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A1A1A"/>
                </a:solidFill>
                <a:latin typeface="Noto Sans TC"/>
              </a:rPr>
              <a:t>讓 AI 幫你解讀報告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2232000"/>
            <a:ext cx="10440000" cy="34200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7999" y="2448000"/>
            <a:ext cx="9720000" cy="30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>這是我的回測結果：[貼數據]</a:t>
            </a:r>
          </a:p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>請幫我分析：</a:t>
            </a:r>
          </a:p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/>
            </a:r>
          </a:p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>1. 勝率和賠率是否合理？</a:t>
            </a:r>
          </a:p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>2. 策略的弱點在哪？</a:t>
            </a:r>
          </a:p>
          <a:p>
            <a:pPr algn="l"/>
            <a:r>
              <a:rPr sz="1700" b="0">
                <a:solidFill>
                  <a:srgbClr val="B4E6B4"/>
                </a:solidFill>
                <a:latin typeface="Courier New"/>
              </a:rPr>
              <a:t>3. 給我 3 個改進方向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1620000"/>
            <a:ext cx="10440000" cy="12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>
                <a:solidFill>
                  <a:srgbClr val="FFFFFF"/>
                </a:solidFill>
                <a:latin typeface="Noto Sans TC"/>
              </a:rPr>
              <a:t>今天的禮物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3780000"/>
            <a:ext cx="10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8C8D2"/>
                </a:solidFill>
                <a:latin typeface="Noto Sans TC"/>
              </a:rPr>
              <a:t>帶走這個工具，自己找下一個因子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720000" y="6534000"/>
            <a:ext cx="900000" cy="72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73200" y="6498000"/>
            <a:ext cx="144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86E64"/>
                </a:solidFill>
                <a:latin typeface="Noto Sans TC"/>
              </a:rPr>
              <a:t>斜槓姐姐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8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468000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8734A"/>
                </a:solidFill>
                <a:latin typeface="Noto Sans TC"/>
              </a:rPr>
              <a:t>GIFT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20000" y="90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Noto Sans TC"/>
              </a:rPr>
              <a:t>禮物包內容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0000" y="216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TC"/>
              </a:rPr>
              <a:t>🎁  Claude Skill Prompt 文字檔（貼上即用）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0000" y="288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TC"/>
              </a:rPr>
              <a:t>📝  Perplexity 論文搜尋關鍵字清單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3600000"/>
            <a:ext cx="1008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Noto Sans TC"/>
              </a:rPr>
              <a:t>📄  XS 策略框架模板</a:t>
            </a:r>
          </a:p>
        </p:txBody>
      </p:sp>
      <p:sp>
        <p:nvSpPr>
          <p:cNvPr id="7" name="Rectangle 6"/>
          <p:cNvSpPr/>
          <p:nvPr/>
        </p:nvSpPr>
        <p:spPr>
          <a:xfrm>
            <a:off x="720000" y="4860000"/>
            <a:ext cx="10440000" cy="720000"/>
          </a:xfrm>
          <a:prstGeom prst="rect">
            <a:avLst/>
          </a:prstGeom>
          <a:solidFill>
            <a:srgbClr val="E87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5004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Noto Sans TC"/>
              </a:rPr>
              <a:t>填表領取 → byslashie.com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6048000"/>
            <a:ext cx="1044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B4AFBE"/>
                </a:solidFill>
                <a:latin typeface="Noto Sans TC"/>
              </a:rPr>
              <a:t>斜槓姐姐  ·  下次見！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