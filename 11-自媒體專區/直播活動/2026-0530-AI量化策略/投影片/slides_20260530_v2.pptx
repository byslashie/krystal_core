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82880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B78"/>
                </a:solidFill>
                <a:latin typeface="Noto Sans TC"/>
              </a:rPr>
              <a:t>AI 策略入門班  ·  2026.05.30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Noto Sans TC"/>
              </a:rPr>
              <a:t>不會寫程式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3657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AB78"/>
                </a:solidFill>
                <a:latin typeface="Noto Sans TC"/>
              </a:rPr>
              <a:t>也能做策略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502" y="49377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3BE"/>
                </a:solidFill>
                <a:latin typeface="Noto Sans TC"/>
              </a:rPr>
              <a:t>用 AI 打造你的 XQ 投資助手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9829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68C"/>
                </a:solidFill>
                <a:latin typeface="Courier New"/>
              </a:rPr>
              <a:t>byslashie.com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829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68C"/>
                </a:solidFill>
                <a:latin typeface="Courier New"/>
              </a:rPr>
              <a:t>Threads @byslashie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今天你會學到什麼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2926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0822" y="292608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C26"/>
                </a:solidFill>
                <a:latin typeface="Noto Sans TC"/>
              </a:rPr>
              <a:t>以前建構策略的流程與痛點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36576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0822" y="365760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C26"/>
                </a:solidFill>
                <a:latin typeface="Noto Sans TC"/>
              </a:rPr>
              <a:t>用 Perplexity + 論文找到有根據的因子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6502" y="43891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0822" y="438912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C26"/>
                </a:solidFill>
                <a:latin typeface="Noto Sans TC"/>
              </a:rPr>
              <a:t>Claude Skill 一步步釐清目標、建立 XS 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502" y="51206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822" y="512064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C26"/>
                </a:solidFill>
                <a:latin typeface="Noto Sans TC"/>
              </a:rPr>
              <a:t>XQ 回測 → 結果存進 HTML 視覺化分析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02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以前建構策略怎麼做？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114800"/>
            <a:ext cx="1828800" cy="502920"/>
          </a:xfrm>
          <a:prstGeom prst="rect">
            <a:avLst/>
          </a:prstGeom>
          <a:solidFill>
            <a:srgbClr val="D2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160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72E59"/>
                </a:solidFill>
                <a:latin typeface="Noto Sans TC"/>
              </a:rPr>
              <a:t>有想法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315968"/>
            <a:ext cx="18288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4114800"/>
            <a:ext cx="1828800" cy="502920"/>
          </a:xfrm>
          <a:prstGeom prst="rect">
            <a:avLst/>
          </a:prstGeom>
          <a:solidFill>
            <a:srgbClr val="D2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4160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72E59"/>
                </a:solidFill>
                <a:latin typeface="Noto Sans TC"/>
              </a:rPr>
              <a:t>想法量化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4315968"/>
            <a:ext cx="18288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4114800"/>
            <a:ext cx="1828800" cy="502920"/>
          </a:xfrm>
          <a:prstGeom prst="rect">
            <a:avLst/>
          </a:prstGeom>
          <a:solidFill>
            <a:srgbClr val="D2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160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72E59"/>
                </a:solidFill>
                <a:latin typeface="Noto Sans TC"/>
              </a:rPr>
              <a:t>回測驗證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4315968"/>
            <a:ext cx="91440" cy="1188719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5303520"/>
            <a:ext cx="1828800" cy="502920"/>
          </a:xfrm>
          <a:prstGeom prst="rect">
            <a:avLst/>
          </a:prstGeom>
          <a:solidFill>
            <a:srgbClr val="D2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72E59"/>
                </a:solidFill>
                <a:latin typeface="Noto Sans TC"/>
              </a:rPr>
              <a:t>修改策略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5504688"/>
            <a:ext cx="18288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5303520"/>
            <a:ext cx="1828800" cy="502920"/>
          </a:xfrm>
          <a:prstGeom prst="rect">
            <a:avLst/>
          </a:prstGeom>
          <a:solidFill>
            <a:srgbClr val="D2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72E59"/>
                </a:solidFill>
                <a:latin typeface="Noto Sans TC"/>
              </a:rPr>
              <a:t>實戰策略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5504688"/>
            <a:ext cx="182880" cy="9144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5303520"/>
            <a:ext cx="1828800" cy="502920"/>
          </a:xfrm>
          <a:prstGeom prst="rect">
            <a:avLst/>
          </a:prstGeom>
          <a:solidFill>
            <a:srgbClr val="D2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72E59"/>
                </a:solidFill>
                <a:latin typeface="Noto Sans TC"/>
              </a:rPr>
              <a:t>優化策略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502" y="7772400"/>
            <a:ext cx="1572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13B2C"/>
                </a:solidFill>
                <a:latin typeface="Noto Sans TC"/>
              </a:rPr>
              <a:t>耗時費力、靠感覺、沒有學術根據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03 / 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NOW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加入 AI 之後的流程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32004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3246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有想法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3862" y="3401568"/>
            <a:ext cx="2926079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39942" y="32004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39942" y="3246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Claude Skill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7302" y="3401568"/>
            <a:ext cx="2926079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03382" y="32004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3382" y="3246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Perplexity 論文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0742" y="3401568"/>
            <a:ext cx="2926079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266822" y="32004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66822" y="3246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Claude 寫 XS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6502" y="45720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6502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XQ 回測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3862" y="4773168"/>
            <a:ext cx="2926079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39942" y="45720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9942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AI 分析報告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77302" y="4773168"/>
            <a:ext cx="2926079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03382" y="45720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3382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修改策略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0742" y="4773168"/>
            <a:ext cx="2926079" cy="73152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266822" y="4572000"/>
            <a:ext cx="1737360" cy="457200"/>
          </a:xfrm>
          <a:prstGeom prst="rect">
            <a:avLst/>
          </a:prstGeom>
          <a:solidFill>
            <a:srgbClr val="E8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266822" y="4617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833"/>
                </a:solidFill>
                <a:latin typeface="Noto Sans TC"/>
              </a:rPr>
              <a:t>實戰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6502" y="7315200"/>
            <a:ext cx="1572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5B33"/>
                </a:solidFill>
                <a:latin typeface="Noto Sans TC"/>
              </a:rPr>
              <a:t>每個環節都有 AI 幫你，省時 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04 / 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502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734A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6502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為什麼從論文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512064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找因子？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6400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86E64"/>
                </a:solidFill>
                <a:latin typeface="Noto Sans TC"/>
              </a:rPr>
              <a:t>學術依據 vs 網路資訊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6502" y="6949440"/>
            <a:ext cx="731520" cy="5486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為什麼要找論文？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743200"/>
            <a:ext cx="7132320" cy="5029200"/>
          </a:xfrm>
          <a:prstGeom prst="rect">
            <a:avLst/>
          </a:prstGeom>
          <a:solidFill>
            <a:srgbClr val="E6E4F0"/>
          </a:solidFill>
          <a:ln w="19050">
            <a:solidFill>
              <a:srgbClr val="B4A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5102" y="2971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2E59"/>
                </a:solidFill>
                <a:latin typeface="Noto Sans TC"/>
              </a:rPr>
              <a:t>❌  網路資訊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5102" y="36576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3C3C"/>
                </a:solidFill>
                <a:latin typeface="Noto Sans TC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9422" y="365760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C26"/>
                </a:solidFill>
                <a:latin typeface="Noto Sans TC"/>
              </a:rPr>
              <a:t>來源不明、難以驗證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5102" y="4480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3C3C"/>
                </a:solidFill>
                <a:latin typeface="Noto Sans TC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9422" y="448056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C26"/>
                </a:solidFill>
                <a:latin typeface="Noto Sans TC"/>
              </a:rPr>
              <a:t>容易過時、流傳錯誤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53035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3C3C"/>
                </a:solidFill>
                <a:latin typeface="Noto Sans TC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9422" y="530352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C26"/>
                </a:solidFill>
                <a:latin typeface="Noto Sans TC"/>
              </a:rPr>
              <a:t>不知道真的有沒有效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2743200"/>
            <a:ext cx="7132320" cy="5029200"/>
          </a:xfrm>
          <a:prstGeom prst="rect">
            <a:avLst/>
          </a:prstGeom>
          <a:solidFill>
            <a:srgbClr val="FFF0DC"/>
          </a:solidFill>
          <a:ln w="1905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2971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2E59"/>
                </a:solidFill>
                <a:latin typeface="Noto Sans TC"/>
              </a:rPr>
              <a:t>✅  學術論文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6576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5B33"/>
                </a:solidFill>
                <a:latin typeface="Noto Sans TC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365760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C26"/>
                </a:solidFill>
                <a:latin typeface="Noto Sans TC"/>
              </a:rPr>
              <a:t>實證研究、有方法論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4480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5B33"/>
                </a:solidFill>
                <a:latin typeface="Noto Sans TC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448056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C26"/>
                </a:solidFill>
                <a:latin typeface="Noto Sans TC"/>
              </a:rPr>
              <a:t>可重現、可驗證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53035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5B33"/>
                </a:solidFill>
                <a:latin typeface="Noto Sans TC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530352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C26"/>
                </a:solidFill>
                <a:latin typeface="Noto Sans TC"/>
              </a:rPr>
              <a:t>清楚的因子條件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06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502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734A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6502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找論文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512064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兩種方法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6400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86E64"/>
                </a:solidFill>
                <a:latin typeface="Noto Sans TC"/>
              </a:rPr>
              <a:t>免費版 &amp; 進階版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6502" y="6949440"/>
            <a:ext cx="731520" cy="5486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SIMPLE  ·  免費  ·  零設定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Perplexity Academic 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365760" cy="36576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29443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92608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開啟 perplexity.ai → 右上角切換 Academic 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3840480"/>
            <a:ext cx="365760" cy="36576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502" y="38587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84048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輸入英文關鍵字，例：momentum factor Taiwan stock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4754880"/>
            <a:ext cx="365760" cy="36576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6502" y="4773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75488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把搜尋摘要貼給 Claude，請它分析因子條件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6502" y="6858000"/>
            <a:ext cx="15727680" cy="822960"/>
          </a:xfrm>
          <a:prstGeom prst="rect">
            <a:avLst/>
          </a:prstGeom>
          <a:solidFill>
            <a:srgbClr val="FFF0E1"/>
          </a:solidFill>
          <a:ln w="1905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0822" y="6995160"/>
            <a:ext cx="1527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5B33"/>
                </a:solidFill>
                <a:latin typeface="Noto Sans TC"/>
              </a:rPr>
              <a:t>完全免費，人人可用，今天 DEMO 用這個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08 /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ADVANCED  ·  我自己用的方式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MCP：Consensus + Scholar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3200400"/>
            <a:ext cx="7315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0822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2E59"/>
                </a:solidFill>
                <a:latin typeface="Noto Sans TC"/>
              </a:rPr>
              <a:t>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0822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5B33"/>
                </a:solidFill>
                <a:latin typeface="Noto Sans TC"/>
              </a:rPr>
              <a:t>找實證結論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0822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C26"/>
                </a:solidFill>
                <a:latin typeface="Noto Sans TC"/>
              </a:rPr>
              <a:t>確認因子是否有學術支持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6102" y="3200400"/>
            <a:ext cx="7315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0422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2E59"/>
                </a:solidFill>
                <a:latin typeface="Noto Sans TC"/>
              </a:rPr>
              <a:t>Scholar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0422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5B33"/>
                </a:solidFill>
                <a:latin typeface="Noto Sans TC"/>
              </a:rPr>
              <a:t>語意搜尋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0422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C26"/>
                </a:solidFill>
                <a:latin typeface="Noto Sans TC"/>
              </a:rPr>
              <a:t>找最新文獻、多角度搜尋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6502" y="8046720"/>
            <a:ext cx="15727680" cy="640080"/>
          </a:xfrm>
          <a:prstGeom prst="rect">
            <a:avLst/>
          </a:prstGeom>
          <a:solidFill>
            <a:srgbClr val="EB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8138160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86E64"/>
                </a:solidFill>
                <a:latin typeface="Noto Sans TC"/>
              </a:rPr>
              <a:t>需要設定 MCP Server，適合進階使用者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09 /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502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734A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6502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Claude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512064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策略建立向導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6400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86E64"/>
                </a:solidFill>
                <a:latin typeface="Noto Sans TC"/>
              </a:rPr>
              <a:t>一步步釐清你的策略目標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6502" y="6949440"/>
            <a:ext cx="731520" cy="5486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THE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什麼是 Claude Skill？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265176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C26"/>
                </a:solidFill>
                <a:latin typeface="Noto Sans TC"/>
              </a:rPr>
              <a:t>一段 Prompt，貼進 Claude 就能用。不需要付費、不需要設定，開新對話貼上就是你的策略顧問。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502" y="3749039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0822" y="3749039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打開 claude.ai 開新對話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6502" y="44348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0822" y="443484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把 Skill Prompt 貼進去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502" y="51206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0822" y="512064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開始建立你的量化策略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6502" y="7315200"/>
            <a:ext cx="15727680" cy="6858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7406640"/>
            <a:ext cx="1508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"/>
              </a:rPr>
              <a:t>今天直播結束送你這個 Skill！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11 /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Skill 一步步問你什麼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743200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6502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74320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策略類型（動能 / 價值 / 品質 / 低波動）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6502" y="3474720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6502" y="350215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47472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策略目標（高報酬 / 高勝率 / 穩定性）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4206240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6502" y="42336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20624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方向偏好（順勢 / 逆勢）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76502" y="4937760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6502" y="4965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93776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持有週期（日 / 週 / 月 / 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76502" y="5669280"/>
            <a:ext cx="384048" cy="38404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6502" y="569671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Noto Sans T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66928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C26"/>
                </a:solidFill>
                <a:latin typeface="Noto Sans TC"/>
              </a:rPr>
              <a:t>目標市場（台股 / 美股 / 全球）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502" y="7772400"/>
            <a:ext cx="1572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5B33"/>
                </a:solidFill>
                <a:latin typeface="Noto Sans TC"/>
              </a:rPr>
              <a:t>→ 收到答案後，Skill 輸出 XS 策略框架（含基本面 + 籌碼面 + 技術面）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12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502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734A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6502" y="4114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XQ 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512064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Noto Sans TC"/>
              </a:rPr>
              <a:t>+ 回測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6400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86E64"/>
                </a:solidFill>
                <a:latin typeface="Noto Sans TC"/>
              </a:rPr>
              <a:t>把 AI 輸出的 XS 框架跑起來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6502" y="6949440"/>
            <a:ext cx="731520" cy="54864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XQ 實作四步驟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926080"/>
            <a:ext cx="71323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0822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734A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0822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2E59"/>
                </a:solidFill>
                <a:latin typeface="Noto Sans TC"/>
              </a:rPr>
              <a:t>選股中心設定三因子條件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2926080"/>
            <a:ext cx="71323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3200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734A"/>
                </a:solidFill>
                <a:latin typeface="Courier New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2E59"/>
                </a:solidFill>
                <a:latin typeface="Noto Sans TC"/>
              </a:rPr>
              <a:t>建立 XS 交易腳本（AI 生成）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5943600"/>
            <a:ext cx="71323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0822" y="6217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734A"/>
                </a:solidFill>
                <a:latin typeface="Courier New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0822" y="7223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2E59"/>
                </a:solidFill>
                <a:latin typeface="Noto Sans TC"/>
              </a:rPr>
              <a:t>設計出場邏輯（季度換倉）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5943600"/>
            <a:ext cx="71323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62179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734A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7223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72E59"/>
                </a:solidFill>
                <a:latin typeface="Noto Sans TC"/>
              </a:rPr>
              <a:t>執行回測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14 /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因子 ETF 回測成績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320040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6502" y="3200400"/>
            <a:ext cx="5029200" cy="10972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5102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C26"/>
                </a:solidFill>
                <a:latin typeface="Noto Sans TC"/>
              </a:rPr>
              <a:t>5年最大報酬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5102" y="3977639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C13B2C"/>
                </a:solidFill>
                <a:latin typeface="Noto Sans TC"/>
              </a:rPr>
              <a:t>+112.42%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5102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6E64"/>
                </a:solidFill>
                <a:latin typeface="Noto Sans TC"/>
              </a:rPr>
              <a:t>優化版 · 3因子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1462" y="320040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1462" y="3200400"/>
            <a:ext cx="50292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0062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C26"/>
                </a:solidFill>
                <a:latin typeface="Noto Sans TC"/>
              </a:rPr>
              <a:t>基礎版報酬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0062" y="3977639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59E0B"/>
                </a:solidFill>
                <a:latin typeface="Noto Sans TC"/>
              </a:rPr>
              <a:t>+86.42%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0062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6E64"/>
                </a:solidFill>
                <a:latin typeface="Noto Sans TC"/>
              </a:rPr>
              <a:t>3因子基礎設定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66422" y="320040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66422" y="3200400"/>
            <a:ext cx="5029200" cy="109728"/>
          </a:xfrm>
          <a:prstGeom prst="rect">
            <a:avLst/>
          </a:prstGeom>
          <a:solidFill>
            <a:srgbClr val="A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95022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C26"/>
                </a:solidFill>
                <a:latin typeface="Noto Sans TC"/>
              </a:rPr>
              <a:t>0050 同期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95022" y="3977639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786E64"/>
                </a:solidFill>
                <a:latin typeface="Noto Sans TC"/>
              </a:rPr>
              <a:t>+62%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95022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6E64"/>
                </a:solidFill>
                <a:latin typeface="Noto Sans TC"/>
              </a:rPr>
              <a:t>大盤對比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502" y="7498079"/>
            <a:ext cx="1572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86E64"/>
                </a:solidFill>
                <a:latin typeface="Noto Sans TC"/>
              </a:rPr>
              <a:t>2022年下半年起逆轉領先大盤，2019–2022年表現弱於0050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15 / 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回測結果存進 HTML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2926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0822" y="292608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C26"/>
                </a:solidFill>
                <a:latin typeface="Noto Sans TC"/>
              </a:rPr>
              <a:t>XQ 回測完成 → 匯出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3840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0822" y="384048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C26"/>
                </a:solidFill>
                <a:latin typeface="Noto Sans TC"/>
              </a:rPr>
              <a:t>把 CSV 拖入 Demo 分析系統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6502" y="47548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734A"/>
                </a:solidFill>
                <a:latin typeface="Noto Sans TC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0822" y="475488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C26"/>
                </a:solidFill>
                <a:latin typeface="Noto Sans TC"/>
              </a:rPr>
              <a:t>AI 自動計算 CAGR / Sharpe / MDD 等 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6400800"/>
            <a:ext cx="15727680" cy="822960"/>
          </a:xfrm>
          <a:prstGeom prst="rect">
            <a:avLst/>
          </a:prstGeom>
          <a:solidFill>
            <a:srgbClr val="FFF0E1"/>
          </a:solidFill>
          <a:ln w="1905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6537960"/>
            <a:ext cx="1508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5B33"/>
                </a:solidFill>
                <a:latin typeface="Noto Sans TC"/>
              </a:rPr>
              <a:t>視覺化報告一鍵生成，今天 DEMO 現場示範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16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5B33"/>
                </a:solidFill>
                <a:latin typeface="Noto Sans TC"/>
              </a:rPr>
              <a:t>AI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C26"/>
                </a:solidFill>
                <a:latin typeface="Noto Sans TC"/>
              </a:rPr>
              <a:t>讓 AI 幫你解讀回測報告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502" y="2743200"/>
            <a:ext cx="15727680" cy="4114800"/>
          </a:xfrm>
          <a:prstGeom prst="rect">
            <a:avLst/>
          </a:prstGeom>
          <a:solidFill>
            <a:srgbClr val="0E1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926080"/>
            <a:ext cx="1508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DCB4"/>
                </a:solidFill>
                <a:latin typeface="Courier New"/>
              </a:rPr>
              <a:t>這是我的回測結果：[貼上數據]
請幫我分析：
1. 勝率和賠率是否合理？
2. 這個策略的弱點在哪？
3. 給我 3 個具體改進方向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9829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Courier New"/>
              </a:rPr>
              <a:t>17 /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828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Noto Sans TC"/>
              </a:rPr>
              <a:t>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31920"/>
            <a:ext cx="1828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Noto Sans TC"/>
              </a:rPr>
              <a:t>今天的禮物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120640"/>
            <a:ext cx="1828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AB78"/>
                </a:solidFill>
                <a:latin typeface="Noto Sans TC"/>
              </a:rPr>
              <a:t>帶走這個工具，自己找下一個因子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6502" y="1188720"/>
            <a:ext cx="731520" cy="36576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6502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B78"/>
                </a:solidFill>
                <a:latin typeface="Noto Sans TC"/>
              </a:rPr>
              <a:t>GIFT · 填表免費領取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502" y="1828800"/>
            <a:ext cx="1572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Noto Sans TC"/>
              </a:rPr>
              <a:t>禮物包內容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502" y="29260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AB78"/>
                </a:solidFill>
                <a:latin typeface="Noto Sans TC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0822" y="292608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TC"/>
              </a:rPr>
              <a:t>🎁  Claude Skill Prompt 文字檔（貼上即用）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502" y="3840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AB78"/>
                </a:solidFill>
                <a:latin typeface="Noto Sans TC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0822" y="384048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TC"/>
              </a:rPr>
              <a:t>📝  Perplexity 論文搜尋關鍵字清單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6502" y="47548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AB78"/>
                </a:solidFill>
                <a:latin typeface="Noto Sans TC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0822" y="4754880"/>
            <a:ext cx="1508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Noto Sans TC"/>
              </a:rPr>
              <a:t>📄  XS 策略框架模板（含基本面 + 籌碼面 + 技術面）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6502" y="7772400"/>
            <a:ext cx="15727680" cy="73152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7863840"/>
            <a:ext cx="1508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ans TC"/>
              </a:rPr>
              <a:t>直播留言「積木」→ 填表領取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502" y="9829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68C"/>
                </a:solidFill>
                <a:latin typeface="Courier New"/>
              </a:rPr>
              <a:t>byslashie.com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0" y="9829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968C"/>
                </a:solidFill>
                <a:latin typeface="Courier New"/>
              </a:rPr>
              <a:t>Threads @byslashie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0" y="9829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6E64"/>
                </a:solidFill>
                <a:latin typeface="Noto Sans TC"/>
              </a:rPr>
              <a:t>斜槓姐姐 · @byslashie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