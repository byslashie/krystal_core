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10287000"/>
          </a:xfrm>
          <a:prstGeom prst="rect">
            <a:avLst/>
          </a:prstGeom>
          <a:solidFill>
            <a:srgbClr val="14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0"/>
            <a:ext cx="7315200" cy="5486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76502" y="1645920"/>
            <a:ext cx="758952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6502" y="18288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B78"/>
                </a:solidFill>
                <a:latin typeface="Calibri"/>
              </a:rPr>
              <a:t>AI 策略入門班  ·  2026.05.30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502" y="2743200"/>
            <a:ext cx="1463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不會寫程式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6502" y="3931920"/>
            <a:ext cx="1463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E8AB78"/>
                </a:solidFill>
                <a:latin typeface="Calibri"/>
              </a:rPr>
              <a:t>也能做策略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6502" y="530352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C3D2"/>
                </a:solidFill>
                <a:latin typeface="Calibri"/>
              </a:rPr>
              <a:t>用 AI 打造你的 XQ 投資助手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498079"/>
            <a:ext cx="18288000" cy="5486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6502" y="98572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C7F70"/>
                </a:solidFill>
                <a:latin typeface="Consolas"/>
              </a:rPr>
              <a:t>byslashie.com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0" y="98572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C7F70"/>
                </a:solidFill>
                <a:latin typeface="Consolas"/>
              </a:rPr>
              <a:t>Threads @byslashie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58952" cy="3840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1280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Calibri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737360"/>
            <a:ext cx="1572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3141E"/>
                </a:solidFill>
                <a:latin typeface="Calibri"/>
              </a:rPr>
              <a:t>今天你會學到什麼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2944368"/>
            <a:ext cx="347472" cy="34747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6502" y="29535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834640"/>
            <a:ext cx="1463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以前建構策略的流程與痛點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6502" y="3767328"/>
            <a:ext cx="347472" cy="34747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6502" y="37764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657600"/>
            <a:ext cx="1463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用 Perplexity + 論文找到有根據的因子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6502" y="4590288"/>
            <a:ext cx="347472" cy="34747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6502" y="45994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480560"/>
            <a:ext cx="1463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Claude Skill 一步步釐清目標、建立 XS 策略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6502" y="5413248"/>
            <a:ext cx="347472" cy="34747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6502" y="54223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5303520"/>
            <a:ext cx="1463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XQ 回測 → 結果存進 HTML 視覺化分析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6502" y="9857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02 / 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58952" cy="3840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1280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Calibri"/>
              </a:rPr>
              <a:t>BEFORE · 舊方法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737360"/>
            <a:ext cx="1572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3141E"/>
                </a:solidFill>
                <a:latin typeface="Calibri"/>
              </a:rPr>
              <a:t>以前建構策略怎麼做？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3200400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76502" y="3200400"/>
            <a:ext cx="3291840" cy="50292"/>
          </a:xfrm>
          <a:prstGeom prst="rect">
            <a:avLst/>
          </a:prstGeom>
          <a:solidFill>
            <a:srgbClr val="B4A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76502" y="3328416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3141E"/>
                </a:solidFill>
                <a:latin typeface="Calibri"/>
              </a:rPr>
              <a:t>有想法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659782" y="3474720"/>
            <a:ext cx="868680" cy="7315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4182" y="3200400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4182" y="3200400"/>
            <a:ext cx="3291840" cy="50292"/>
          </a:xfrm>
          <a:prstGeom prst="rect">
            <a:avLst/>
          </a:prstGeom>
          <a:solidFill>
            <a:srgbClr val="B4A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4182" y="3328416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3141E"/>
                </a:solidFill>
                <a:latin typeface="Calibri"/>
              </a:rPr>
              <a:t>找指標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57462" y="3474720"/>
            <a:ext cx="868680" cy="7315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71862" y="3200400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71862" y="3200400"/>
            <a:ext cx="3291840" cy="50292"/>
          </a:xfrm>
          <a:prstGeom prst="rect">
            <a:avLst/>
          </a:prstGeom>
          <a:solidFill>
            <a:srgbClr val="B4A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1862" y="3328416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3141E"/>
                </a:solidFill>
                <a:latin typeface="Calibri"/>
              </a:rPr>
              <a:t>憑感覺回測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1862" y="4846320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71862" y="4846320"/>
            <a:ext cx="3291840" cy="50292"/>
          </a:xfrm>
          <a:prstGeom prst="rect">
            <a:avLst/>
          </a:prstGeom>
          <a:solidFill>
            <a:srgbClr val="B4A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1862" y="4974336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3141E"/>
                </a:solidFill>
                <a:latin typeface="Calibri"/>
              </a:rPr>
              <a:t>修改策略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1742" y="5120640"/>
            <a:ext cx="868680" cy="7315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74182" y="4846320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74182" y="4846320"/>
            <a:ext cx="3291840" cy="50292"/>
          </a:xfrm>
          <a:prstGeom prst="rect">
            <a:avLst/>
          </a:prstGeom>
          <a:solidFill>
            <a:srgbClr val="B4A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4182" y="4974336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3141E"/>
                </a:solidFill>
                <a:latin typeface="Calibri"/>
              </a:rPr>
              <a:t>實單交易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4062" y="5120640"/>
            <a:ext cx="868680" cy="7315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76502" y="4846320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76502" y="4846320"/>
            <a:ext cx="3291840" cy="50292"/>
          </a:xfrm>
          <a:prstGeom prst="rect">
            <a:avLst/>
          </a:prstGeom>
          <a:solidFill>
            <a:srgbClr val="C13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76502" y="4974336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3141E"/>
                </a:solidFill>
                <a:latin typeface="Calibri"/>
              </a:rPr>
              <a:t>結果曝虧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76502" y="6858000"/>
            <a:ext cx="15727680" cy="685800"/>
          </a:xfrm>
          <a:prstGeom prst="rect">
            <a:avLst/>
          </a:prstGeom>
          <a:solidFill>
            <a:srgbClr val="FFEBE6"/>
          </a:solidFill>
          <a:ln w="19050">
            <a:solidFill>
              <a:srgbClr val="C13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6967728"/>
            <a:ext cx="1508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13B2C"/>
                </a:solidFill>
                <a:latin typeface="Calibri"/>
              </a:rPr>
              <a:t>耗時費力 · 靠感覺 · 沒有學術根據 · 勝率無法改善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6502" y="9857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03 / 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58952" cy="3840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1280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Calibri"/>
              </a:rPr>
              <a:t>NOW WITH AI · 新流程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737360"/>
            <a:ext cx="1572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3141E"/>
                </a:solidFill>
                <a:latin typeface="Calibri"/>
              </a:rPr>
              <a:t>加入 AI 之後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2926080"/>
            <a:ext cx="246887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76502" y="2926080"/>
            <a:ext cx="2468879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76502" y="3072384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E1833"/>
                </a:solidFill>
                <a:latin typeface="Calibri"/>
              </a:rPr>
              <a:t>有想法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3670" y="312724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734A"/>
                </a:solidFill>
                <a:latin typeface="Calibr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28262" y="2926080"/>
            <a:ext cx="246887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8262" y="2926080"/>
            <a:ext cx="2468879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28262" y="3072384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E1833"/>
                </a:solidFill>
                <a:latin typeface="Calibri"/>
              </a:rPr>
              <a:t>Claude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430" y="312724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734A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0022" y="2926080"/>
            <a:ext cx="246887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0022" y="2926080"/>
            <a:ext cx="2468879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0022" y="3072384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E1833"/>
                </a:solidFill>
                <a:latin typeface="Calibri"/>
              </a:rPr>
              <a:t>Perplexity 找論文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7190" y="312724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734A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1782" y="2926080"/>
            <a:ext cx="246887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1782" y="2926080"/>
            <a:ext cx="2468879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1782" y="3072384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E1833"/>
                </a:solidFill>
                <a:latin typeface="Calibri"/>
              </a:rPr>
              <a:t>Claude 寫 XS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18950" y="312724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734A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3542" y="2926080"/>
            <a:ext cx="246887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3542" y="2926080"/>
            <a:ext cx="2468879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3542" y="3072384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E1833"/>
                </a:solidFill>
                <a:latin typeface="Calibri"/>
              </a:rPr>
              <a:t>XQ 回測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70710" y="312724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734A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535302" y="2926080"/>
            <a:ext cx="246887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535302" y="2926080"/>
            <a:ext cx="2468879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535302" y="3072384"/>
            <a:ext cx="24688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E1833"/>
                </a:solidFill>
                <a:latin typeface="Calibri"/>
              </a:rPr>
              <a:t>AI 解讀報告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76502" y="4352544"/>
            <a:ext cx="91440" cy="914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4206240"/>
            <a:ext cx="1463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每個環節 AI 輔助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76502" y="5129783"/>
            <a:ext cx="91440" cy="914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200" y="4983479"/>
            <a:ext cx="1463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有論文根據，策略有邏輯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6502" y="5907024"/>
            <a:ext cx="91440" cy="914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0200" y="5760720"/>
            <a:ext cx="1463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省去 80% 試錯時間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76502" y="7498079"/>
            <a:ext cx="15727680" cy="731520"/>
          </a:xfrm>
          <a:prstGeom prst="rect">
            <a:avLst/>
          </a:prstGeom>
          <a:solidFill>
            <a:srgbClr val="FFEAD6"/>
          </a:solidFill>
          <a:ln w="1905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7635240"/>
            <a:ext cx="1508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C5B33"/>
                </a:solidFill>
                <a:latin typeface="Calibri"/>
              </a:rPr>
              <a:t>今天直播：我帶你把這個流程跑一遍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76502" y="9857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04 / 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0" y="5486400"/>
            <a:ext cx="7315200" cy="5029200"/>
          </a:xfrm>
          <a:prstGeom prst="rect">
            <a:avLst/>
          </a:prstGeom>
          <a:solidFill>
            <a:srgbClr val="FFE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4114800"/>
          </a:xfrm>
          <a:prstGeom prst="rect">
            <a:avLst/>
          </a:prstGeom>
          <a:solidFill>
            <a:srgbClr val="E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76502" y="2560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0" i="0">
                <a:solidFill>
                  <a:srgbClr val="E8734A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502" y="4114800"/>
            <a:ext cx="1371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3141E"/>
                </a:solidFill>
                <a:latin typeface="Calibri"/>
              </a:rPr>
              <a:t>為什麼從論文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502" y="5212080"/>
            <a:ext cx="1371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3141E"/>
                </a:solidFill>
                <a:latin typeface="Calibri"/>
              </a:rPr>
              <a:t>找因子？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6502" y="658368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8C7F70"/>
                </a:solidFill>
                <a:latin typeface="Calibri"/>
              </a:rPr>
              <a:t>學術依據 vs 網路資訊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6502" y="7269480"/>
            <a:ext cx="758952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58952" cy="3840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1280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737360"/>
            <a:ext cx="1572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3141E"/>
                </a:solidFill>
                <a:latin typeface="Calibri"/>
              </a:rPr>
              <a:t>為什麼要找論文？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2926080"/>
            <a:ext cx="7132320" cy="5303520"/>
          </a:xfrm>
          <a:prstGeom prst="rect">
            <a:avLst/>
          </a:prstGeom>
          <a:solidFill>
            <a:srgbClr val="F4F2F8"/>
          </a:solidFill>
          <a:ln w="19050">
            <a:solidFill>
              <a:srgbClr val="B4A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76502" y="2926080"/>
            <a:ext cx="7132320" cy="50292"/>
          </a:xfrm>
          <a:prstGeom prst="rect">
            <a:avLst/>
          </a:prstGeom>
          <a:solidFill>
            <a:srgbClr val="17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2534" y="3108960"/>
            <a:ext cx="67665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72E59"/>
                </a:solidFill>
                <a:latin typeface="Calibri"/>
              </a:rPr>
              <a:t>❌  網路資訊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2534" y="4069079"/>
            <a:ext cx="91440" cy="91440"/>
          </a:xfrm>
          <a:prstGeom prst="rect">
            <a:avLst/>
          </a:prstGeom>
          <a:solidFill>
            <a:srgbClr val="B4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8566" y="3977639"/>
            <a:ext cx="1508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C32"/>
                </a:solidFill>
                <a:latin typeface="Calibri"/>
              </a:rPr>
              <a:t>來源不明、難以驗證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2534" y="5074919"/>
            <a:ext cx="91440" cy="91440"/>
          </a:xfrm>
          <a:prstGeom prst="rect">
            <a:avLst/>
          </a:prstGeom>
          <a:solidFill>
            <a:srgbClr val="B4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8566" y="4983479"/>
            <a:ext cx="1508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C32"/>
                </a:solidFill>
                <a:latin typeface="Calibri"/>
              </a:rPr>
              <a:t>容易過時、流傳錯誤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32534" y="6080759"/>
            <a:ext cx="91440" cy="91440"/>
          </a:xfrm>
          <a:prstGeom prst="rect">
            <a:avLst/>
          </a:prstGeom>
          <a:solidFill>
            <a:srgbClr val="B4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8566" y="5989320"/>
            <a:ext cx="1508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C32"/>
                </a:solidFill>
                <a:latin typeface="Calibri"/>
              </a:rPr>
              <a:t>不知道有沒有真的效果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926080"/>
            <a:ext cx="7132320" cy="5303520"/>
          </a:xfrm>
          <a:prstGeom prst="rect">
            <a:avLst/>
          </a:prstGeom>
          <a:solidFill>
            <a:srgbClr val="FFF5EB"/>
          </a:solidFill>
          <a:ln w="1905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2926080"/>
            <a:ext cx="7132320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48672" y="3108960"/>
            <a:ext cx="67665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72E59"/>
                </a:solidFill>
                <a:latin typeface="Calibri"/>
              </a:rPr>
              <a:t>✅  學術論文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48672" y="4069079"/>
            <a:ext cx="91440" cy="914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04703" y="3977639"/>
            <a:ext cx="1508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C32"/>
                </a:solidFill>
                <a:latin typeface="Calibri"/>
              </a:rPr>
              <a:t>有方法論、可重現驗證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48672" y="5074919"/>
            <a:ext cx="91440" cy="914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04703" y="4983479"/>
            <a:ext cx="1508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C32"/>
                </a:solidFill>
                <a:latin typeface="Calibri"/>
              </a:rPr>
              <a:t>清楚的因子條件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48672" y="6080759"/>
            <a:ext cx="91440" cy="914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04703" y="5989320"/>
            <a:ext cx="1508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C32"/>
                </a:solidFill>
                <a:latin typeface="Calibri"/>
              </a:rPr>
              <a:t>建立策略有根有據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6502" y="9857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06 / 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0" y="5486400"/>
            <a:ext cx="7315200" cy="5029200"/>
          </a:xfrm>
          <a:prstGeom prst="rect">
            <a:avLst/>
          </a:prstGeom>
          <a:solidFill>
            <a:srgbClr val="FFE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4114800"/>
          </a:xfrm>
          <a:prstGeom prst="rect">
            <a:avLst/>
          </a:prstGeom>
          <a:solidFill>
            <a:srgbClr val="E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76502" y="2560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0" i="0">
                <a:solidFill>
                  <a:srgbClr val="E8734A"/>
                </a:solidFill>
                <a:latin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502" y="4114800"/>
            <a:ext cx="1371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3141E"/>
                </a:solidFill>
                <a:latin typeface="Calibri"/>
              </a:rPr>
              <a:t>找論文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502" y="5212080"/>
            <a:ext cx="1371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3141E"/>
                </a:solidFill>
                <a:latin typeface="Calibri"/>
              </a:rPr>
              <a:t>兩種方法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6502" y="658368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8C7F70"/>
                </a:solidFill>
                <a:latin typeface="Calibri"/>
              </a:rPr>
              <a:t>免費版 &amp; 進階版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6502" y="7269480"/>
            <a:ext cx="758952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58952" cy="3840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1280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Calibri"/>
              </a:rPr>
              <a:t>SIMPLE · 免費 · 零設定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737360"/>
            <a:ext cx="1572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3141E"/>
                </a:solidFill>
                <a:latin typeface="Calibri"/>
              </a:rPr>
              <a:t>Perplexity Academic 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2926080"/>
            <a:ext cx="475488" cy="47548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6502" y="298094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962656"/>
            <a:ext cx="1490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開啟 perplexity.ai → 右上角切換 Academic 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6502" y="3977639"/>
            <a:ext cx="475488" cy="47548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6502" y="403250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014215"/>
            <a:ext cx="1490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輸入英文關鍵字，例：momentum factor Taiwan stock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6502" y="5029200"/>
            <a:ext cx="475488" cy="47548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6502" y="508406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065776"/>
            <a:ext cx="1490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把搜尋摘要貼給 Claude，請它分析因子條件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6502" y="6400800"/>
            <a:ext cx="15727680" cy="1645920"/>
          </a:xfrm>
          <a:prstGeom prst="rect">
            <a:avLst/>
          </a:prstGeom>
          <a:solidFill>
            <a:srgbClr val="0E1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76502" y="6400800"/>
            <a:ext cx="75895" cy="164592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6492240"/>
            <a:ext cx="1508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AB78"/>
                </a:solidFill>
                <a:latin typeface="Consolas"/>
              </a:rPr>
              <a:t>"momentum factor Taiwan stock"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6949440"/>
            <a:ext cx="1508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AB78"/>
                </a:solidFill>
                <a:latin typeface="Consolas"/>
              </a:rPr>
              <a:t>"quality factor ROE profitability returns"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7406640"/>
            <a:ext cx="1508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AB78"/>
                </a:solidFill>
                <a:latin typeface="Consolas"/>
              </a:rPr>
              <a:t>"Fama French three factor model"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76502" y="8366760"/>
            <a:ext cx="15727680" cy="658368"/>
          </a:xfrm>
          <a:prstGeom prst="rect">
            <a:avLst/>
          </a:prstGeom>
          <a:solidFill>
            <a:srgbClr val="FFEAD6"/>
          </a:solidFill>
          <a:ln w="1905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8485632"/>
            <a:ext cx="1508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C5B33"/>
                </a:solidFill>
                <a:latin typeface="Calibri"/>
              </a:rPr>
              <a:t>完全免費，人人可用，今天 DEMO 用這個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6502" y="9857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08 / 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58952" cy="3840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1280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Calibri"/>
              </a:rPr>
              <a:t>ADVANCED · 我自己用的方式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737360"/>
            <a:ext cx="1572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3141E"/>
                </a:solidFill>
                <a:latin typeface="Calibri"/>
              </a:rPr>
              <a:t>MCP：Consensus + Scholar Gateway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2926080"/>
            <a:ext cx="78638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76502" y="2926080"/>
            <a:ext cx="7863840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96542" y="31546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1833"/>
                </a:solidFill>
                <a:latin typeface="Calibri"/>
              </a:rPr>
              <a:t>Consensus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6542" y="39319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C5B33"/>
                </a:solidFill>
                <a:latin typeface="Calibri"/>
              </a:rPr>
              <a:t>找實證結論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6542" y="438912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C32"/>
                </a:solidFill>
                <a:latin typeface="Calibri"/>
              </a:rPr>
              <a:t>輸入研究問題
→ 直接輸出有/無支持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97542" y="2926080"/>
            <a:ext cx="78638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97542" y="2926080"/>
            <a:ext cx="7863840" cy="50292"/>
          </a:xfrm>
          <a:prstGeom prst="rect">
            <a:avLst/>
          </a:prstGeom>
          <a:solidFill>
            <a:srgbClr val="17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17582" y="31546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1833"/>
                </a:solidFill>
                <a:latin typeface="Calibri"/>
              </a:rPr>
              <a:t>Scholar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17582" y="39319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C5B33"/>
                </a:solidFill>
                <a:latin typeface="Calibri"/>
              </a:rPr>
              <a:t>語意搜尋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7582" y="438912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C32"/>
                </a:solidFill>
                <a:latin typeface="Calibri"/>
              </a:rPr>
              <a:t>找最新文獻
→ 多角度交叉驗證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76502" y="8229600"/>
            <a:ext cx="15727680" cy="658368"/>
          </a:xfrm>
          <a:prstGeom prst="rect">
            <a:avLst/>
          </a:prstGeom>
          <a:solidFill>
            <a:srgbClr val="F2EDE6"/>
          </a:solidFill>
          <a:ln w="12700">
            <a:solidFill>
              <a:srgbClr val="E6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8339327"/>
            <a:ext cx="1508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C7F70"/>
                </a:solidFill>
                <a:latin typeface="Calibri"/>
              </a:rPr>
              <a:t>需設定 MCP Server，適合進階使用者；今天先用 Perplexity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6502" y="9857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09 / 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0" y="5486400"/>
            <a:ext cx="7315200" cy="5029200"/>
          </a:xfrm>
          <a:prstGeom prst="rect">
            <a:avLst/>
          </a:prstGeom>
          <a:solidFill>
            <a:srgbClr val="FFE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4114800"/>
          </a:xfrm>
          <a:prstGeom prst="rect">
            <a:avLst/>
          </a:prstGeom>
          <a:solidFill>
            <a:srgbClr val="E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76502" y="2560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0" i="0">
                <a:solidFill>
                  <a:srgbClr val="E8734A"/>
                </a:solidFill>
                <a:latin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502" y="4114800"/>
            <a:ext cx="1371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3141E"/>
                </a:solidFill>
                <a:latin typeface="Calibri"/>
              </a:rPr>
              <a:t>Claude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502" y="5212080"/>
            <a:ext cx="1371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3141E"/>
                </a:solidFill>
                <a:latin typeface="Calibri"/>
              </a:rPr>
              <a:t>策略建立向導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6502" y="658368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8C7F70"/>
                </a:solidFill>
                <a:latin typeface="Calibri"/>
              </a:rPr>
              <a:t>一步步釐清你的策略目標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6502" y="7269480"/>
            <a:ext cx="758952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58952" cy="3840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1280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Calibri"/>
              </a:rPr>
              <a:t>THE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737360"/>
            <a:ext cx="1572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3141E"/>
                </a:solidFill>
                <a:latin typeface="Calibri"/>
              </a:rPr>
              <a:t>什麼是 Claude Skill？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502" y="2651760"/>
            <a:ext cx="1572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C32"/>
                </a:solidFill>
                <a:latin typeface="Calibri"/>
              </a:rPr>
              <a:t>一段 Prompt，貼進 Claude 對話框就能用。
不需要 Claude Pro、不需要設定，開新對話貼上就是你的策略顧問。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6502" y="4023359"/>
            <a:ext cx="347472" cy="34747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76502" y="40416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3968496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打開 claude.ai → 開新對話</a:t>
            </a:r>
          </a:p>
        </p:txBody>
      </p:sp>
      <p:sp>
        <p:nvSpPr>
          <p:cNvPr id="9" name="Rectangle 8"/>
          <p:cNvSpPr/>
          <p:nvPr/>
        </p:nvSpPr>
        <p:spPr>
          <a:xfrm>
            <a:off x="1276502" y="4846320"/>
            <a:ext cx="347472" cy="34747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6502" y="48646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791456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把 Skill Prompt 全選複製，貼進去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76502" y="5669279"/>
            <a:ext cx="347472" cy="34747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6502" y="56875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5614416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Claude 會問你策略方向 → 一步步建立邏輯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76502" y="7498079"/>
            <a:ext cx="15727680" cy="82296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7635240"/>
            <a:ext cx="1828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今天直播結束後，填表就送你這個 Skill！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6502" y="9857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11 / 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58952" cy="3840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1280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737360"/>
            <a:ext cx="1572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3141E"/>
                </a:solidFill>
                <a:latin typeface="Calibri"/>
              </a:rPr>
              <a:t>Skill 一步步問你什麼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2743200"/>
            <a:ext cx="457200" cy="4572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6502" y="27980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798064"/>
            <a:ext cx="1463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C32"/>
                </a:solidFill>
                <a:latin typeface="Calibri"/>
              </a:rPr>
              <a:t>商品類型（台股個股 / ETF / 美股）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6502" y="3657600"/>
            <a:ext cx="457200" cy="4572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6502" y="371246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712463"/>
            <a:ext cx="1463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C32"/>
                </a:solidFill>
                <a:latin typeface="Calibri"/>
              </a:rPr>
              <a:t>操作週期（日線 / 週線 / 月線）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6502" y="4572000"/>
            <a:ext cx="457200" cy="4572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6502" y="46268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626864"/>
            <a:ext cx="1463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C32"/>
                </a:solidFill>
                <a:latin typeface="Calibri"/>
              </a:rPr>
              <a:t>策略邏輯（順勢 / 逆勢 / 基本面 / 籌碼）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6502" y="5486400"/>
            <a:ext cx="457200" cy="4572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6502" y="55412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541264"/>
            <a:ext cx="1463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C32"/>
                </a:solidFill>
                <a:latin typeface="Calibri"/>
              </a:rPr>
              <a:t>持有時間（短線 / 波段 / 長持）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76502" y="6400800"/>
            <a:ext cx="457200" cy="4572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76502" y="64556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6455664"/>
            <a:ext cx="1463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C32"/>
                </a:solidFill>
                <a:latin typeface="Calibri"/>
              </a:rPr>
              <a:t>風控需求（停損幅度、每月操作次數）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502" y="8321040"/>
            <a:ext cx="1572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C5B33"/>
                </a:solidFill>
                <a:latin typeface="Calibri"/>
              </a:rPr>
              <a:t>→ 收到答案後，Skill 輸出 XS 策略框架（基本面 + 籌碼面 + 技術面三層）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6502" y="9857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12 / 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0" y="5486400"/>
            <a:ext cx="7315200" cy="5029200"/>
          </a:xfrm>
          <a:prstGeom prst="rect">
            <a:avLst/>
          </a:prstGeom>
          <a:solidFill>
            <a:srgbClr val="FFE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4114800"/>
          </a:xfrm>
          <a:prstGeom prst="rect">
            <a:avLst/>
          </a:prstGeom>
          <a:solidFill>
            <a:srgbClr val="E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76502" y="2560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0" i="0">
                <a:solidFill>
                  <a:srgbClr val="E8734A"/>
                </a:solidFill>
                <a:latin typeface="Consola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502" y="4114800"/>
            <a:ext cx="1371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3141E"/>
                </a:solidFill>
                <a:latin typeface="Calibri"/>
              </a:rPr>
              <a:t>XQ 實作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502" y="5212080"/>
            <a:ext cx="1371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3141E"/>
                </a:solidFill>
                <a:latin typeface="Calibri"/>
              </a:rPr>
              <a:t>+ 回測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6502" y="658368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8C7F70"/>
                </a:solidFill>
                <a:latin typeface="Calibri"/>
              </a:rPr>
              <a:t>把 AI 輸出的 XS 框架跑起來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6502" y="7269480"/>
            <a:ext cx="758952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58952" cy="3840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1280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737360"/>
            <a:ext cx="1572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3141E"/>
                </a:solidFill>
                <a:latin typeface="Calibri"/>
              </a:rPr>
              <a:t>XQ 實作四步驟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2926080"/>
            <a:ext cx="713232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76502" y="2926080"/>
            <a:ext cx="7132320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0822" y="31546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E88D5B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0822" y="42976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3141E"/>
                </a:solidFill>
                <a:latin typeface="Calibri"/>
              </a:rPr>
              <a:t>選股中心
設定三因子條件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2926080"/>
            <a:ext cx="713232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0" y="2926080"/>
            <a:ext cx="7132320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546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E88D5B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42976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3141E"/>
                </a:solidFill>
                <a:latin typeface="Calibri"/>
              </a:rPr>
              <a:t>建立 XS 交易腳本
（AI 生成）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76502" y="6035040"/>
            <a:ext cx="713232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76502" y="6035040"/>
            <a:ext cx="7132320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0822" y="6263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E88D5B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0822" y="74066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3141E"/>
                </a:solidFill>
                <a:latin typeface="Calibri"/>
              </a:rPr>
              <a:t>設計出場邏輯
（季度換倉）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6035040"/>
            <a:ext cx="713232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0" y="6035040"/>
            <a:ext cx="7132320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6263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E88D5B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74066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3141E"/>
                </a:solidFill>
                <a:latin typeface="Calibri"/>
              </a:rPr>
              <a:t>執行回測
分析報告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6502" y="9857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14 / 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58952" cy="3840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1280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Calibri"/>
              </a:rPr>
              <a:t>RESULT · 因子 ETF 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737360"/>
            <a:ext cx="1572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3141E"/>
                </a:solidFill>
                <a:latin typeface="Calibri"/>
              </a:rPr>
              <a:t>5 年回測成績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2926080"/>
            <a:ext cx="51206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76502" y="2926080"/>
            <a:ext cx="5120640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0822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C32"/>
                </a:solidFill>
                <a:latin typeface="Calibri"/>
              </a:rPr>
              <a:t>5年最大報酬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0822" y="3749039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C13B2C"/>
                </a:solidFill>
                <a:latin typeface="Calibri"/>
              </a:rPr>
              <a:t>+112.42%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0822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4A591"/>
                </a:solidFill>
                <a:latin typeface="Calibri"/>
              </a:rPr>
              <a:t>優化版 · 3 因子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2902" y="2926080"/>
            <a:ext cx="51206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2902" y="2926080"/>
            <a:ext cx="512064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37222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C32"/>
                </a:solidFill>
                <a:latin typeface="Calibri"/>
              </a:rPr>
              <a:t>基礎版報酬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7222" y="3749039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59E0B"/>
                </a:solidFill>
                <a:latin typeface="Calibri"/>
              </a:rPr>
              <a:t>+86.42%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7222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4A591"/>
                </a:solidFill>
                <a:latin typeface="Calibri"/>
              </a:rPr>
              <a:t>3 因子基礎設定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249302" y="2926080"/>
            <a:ext cx="51206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249302" y="2926080"/>
            <a:ext cx="5120640" cy="50292"/>
          </a:xfrm>
          <a:prstGeom prst="rect">
            <a:avLst/>
          </a:prstGeom>
          <a:solidFill>
            <a:srgbClr val="B4A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3622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C32"/>
                </a:solidFill>
                <a:latin typeface="Calibri"/>
              </a:rPr>
              <a:t>0050 同期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3622" y="3749039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8C7F70"/>
                </a:solidFill>
                <a:latin typeface="Calibri"/>
              </a:rPr>
              <a:t>+62%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3622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4A591"/>
                </a:solidFill>
                <a:latin typeface="Calibri"/>
              </a:rPr>
              <a:t>大盤對比基準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502" y="7772400"/>
            <a:ext cx="1572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4A591"/>
                </a:solidFill>
                <a:latin typeface="Calibri"/>
              </a:rPr>
              <a:t>2022 年下半年起逆轉領先大盤，2019–2022 年表現弱於 0050 / 詳見 byslashie.com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6502" y="9857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15 / 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58952" cy="3840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1280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737360"/>
            <a:ext cx="1572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3141E"/>
                </a:solidFill>
                <a:latin typeface="Calibri"/>
              </a:rPr>
              <a:t>回測結果存進 HTML 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3017520"/>
            <a:ext cx="347472" cy="34747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6502" y="30358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962656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XQ 回測完成 → 匯出 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6502" y="4069079"/>
            <a:ext cx="347472" cy="34747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6502" y="40873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4014215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把 CSV 拖入 Demo 分析系統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6502" y="5120640"/>
            <a:ext cx="347472" cy="34747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6502" y="51389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5065776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C32"/>
                </a:solidFill>
                <a:latin typeface="Calibri"/>
              </a:rPr>
              <a:t>AI 自動計算 CAGR / Sharpe / MDD 等 18 項 KPI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6502" y="6400800"/>
            <a:ext cx="3657600" cy="1371600"/>
          </a:xfrm>
          <a:prstGeom prst="rect">
            <a:avLst/>
          </a:prstGeom>
          <a:solidFill>
            <a:srgbClr val="FFEAD6"/>
          </a:solidFill>
          <a:ln w="127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76502" y="6400800"/>
            <a:ext cx="3657600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6502" y="66751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5B33"/>
                </a:solidFill>
                <a:latin typeface="Consolas"/>
              </a:rPr>
              <a:t>+CAGR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9862" y="6400800"/>
            <a:ext cx="3657600" cy="1371600"/>
          </a:xfrm>
          <a:prstGeom prst="rect">
            <a:avLst/>
          </a:prstGeom>
          <a:solidFill>
            <a:srgbClr val="FFEAD6"/>
          </a:solidFill>
          <a:ln w="127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9862" y="6400800"/>
            <a:ext cx="3657600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99862" y="66751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5B33"/>
                </a:solidFill>
                <a:latin typeface="Consolas"/>
              </a:rPr>
              <a:t>Sharpe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3222" y="6400800"/>
            <a:ext cx="3657600" cy="1371600"/>
          </a:xfrm>
          <a:prstGeom prst="rect">
            <a:avLst/>
          </a:prstGeom>
          <a:solidFill>
            <a:srgbClr val="FFEAD6"/>
          </a:solidFill>
          <a:ln w="127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3222" y="6400800"/>
            <a:ext cx="3657600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3222" y="66751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5B33"/>
                </a:solidFill>
                <a:latin typeface="Consolas"/>
              </a:rPr>
              <a:t>MaxDD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346582" y="6400800"/>
            <a:ext cx="3657600" cy="1371600"/>
          </a:xfrm>
          <a:prstGeom prst="rect">
            <a:avLst/>
          </a:prstGeom>
          <a:solidFill>
            <a:srgbClr val="FFEAD6"/>
          </a:solidFill>
          <a:ln w="127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346582" y="6400800"/>
            <a:ext cx="3657600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46582" y="66751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5B33"/>
                </a:solidFill>
                <a:latin typeface="Consolas"/>
              </a:rPr>
              <a:t>WinRate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6502" y="9857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16 / 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58952" cy="3840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1280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Calibri"/>
              </a:rPr>
              <a:t>AI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737360"/>
            <a:ext cx="1572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3141E"/>
                </a:solidFill>
                <a:latin typeface="Calibri"/>
              </a:rPr>
              <a:t>讓 AI 幫你解讀回測報告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2743200"/>
            <a:ext cx="15727680" cy="4754880"/>
          </a:xfrm>
          <a:prstGeom prst="rect">
            <a:avLst/>
          </a:prstGeom>
          <a:solidFill>
            <a:srgbClr val="0E1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76502" y="2743200"/>
            <a:ext cx="75895" cy="475488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971800"/>
            <a:ext cx="1508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3D7"/>
                </a:solidFill>
                <a:latin typeface="Consolas"/>
              </a:rPr>
              <a:t>這是我的回測結果：[貼上數據]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30168"/>
            <a:ext cx="1508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3D7"/>
                </a:solidFill>
                <a:latin typeface="Consola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288536"/>
            <a:ext cx="1508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AB78"/>
                </a:solidFill>
                <a:latin typeface="Consolas"/>
              </a:rPr>
              <a:t>請幫我分析：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946904"/>
            <a:ext cx="1508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2DCB4"/>
                </a:solidFill>
                <a:latin typeface="Consolas"/>
              </a:rPr>
              <a:t>1. 勝率和賠率是否合理？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5605272"/>
            <a:ext cx="1508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2DCB4"/>
                </a:solidFill>
                <a:latin typeface="Consolas"/>
              </a:rPr>
              <a:t>2. 這個策略的弱點在哪？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6263640"/>
            <a:ext cx="1508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2DCB4"/>
                </a:solidFill>
                <a:latin typeface="Consolas"/>
              </a:rPr>
              <a:t>3. 給我 3 個具體改進方向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76502" y="7818120"/>
            <a:ext cx="15727680" cy="658368"/>
          </a:xfrm>
          <a:prstGeom prst="rect">
            <a:avLst/>
          </a:prstGeom>
          <a:solidFill>
            <a:srgbClr val="FFEAD6"/>
          </a:solidFill>
          <a:ln w="1905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7936992"/>
            <a:ext cx="1508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C5B33"/>
                </a:solidFill>
                <a:latin typeface="Calibri"/>
              </a:rPr>
              <a:t>Claude 會給你策略診斷 + 3 個具體優化方向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502" y="9857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17 / 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1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1828800"/>
            <a:ext cx="7315200" cy="6400800"/>
          </a:xfrm>
          <a:prstGeom prst="rect">
            <a:avLst/>
          </a:prstGeom>
          <a:solidFill>
            <a:srgbClr val="14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828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  <a:latin typeface="Calibri"/>
              </a:rPr>
              <a:t>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828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今天的禮物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828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AB78"/>
                </a:solidFill>
                <a:latin typeface="Calibri"/>
              </a:rPr>
              <a:t>帶走這個工具，自己找下一個因子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554480"/>
            <a:ext cx="758952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737360"/>
            <a:ext cx="1280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B78"/>
                </a:solidFill>
                <a:latin typeface="Calibri"/>
              </a:rPr>
              <a:t>GIFT  ·  填表免費領取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2286000"/>
            <a:ext cx="1572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禮物包內容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3584448"/>
            <a:ext cx="384048" cy="38404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6502" y="35844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1536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BE4DC"/>
                </a:solidFill>
                <a:latin typeface="Calibri"/>
              </a:rPr>
              <a:t>📄  Claude Skill Prompt（貼入 Claude 即用，免費）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6502" y="4590288"/>
            <a:ext cx="384048" cy="38404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6502" y="45902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480560"/>
            <a:ext cx="1536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BE4DC"/>
                </a:solidFill>
                <a:latin typeface="Calibri"/>
              </a:rPr>
              <a:t>🔍  Perplexity 學術搜尋關鍵字清單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6502" y="5596128"/>
            <a:ext cx="384048" cy="38404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6502" y="55961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486400"/>
            <a:ext cx="1536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BE4DC"/>
                </a:solidFill>
                <a:latin typeface="Calibri"/>
              </a:rPr>
              <a:t>📊  XS 策略框架模板（三層選股邏輯可直接修改）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6502" y="7680960"/>
            <a:ext cx="15727680" cy="84124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7845552"/>
            <a:ext cx="1828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直播留言「積木」→ 填表領取三份禮物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6502" y="98572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C7F70"/>
                </a:solidFill>
                <a:latin typeface="Consolas"/>
              </a:rPr>
              <a:t>byslashie.com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0" y="98572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C7F70"/>
                </a:solidFill>
                <a:latin typeface="Consolas"/>
              </a:rPr>
              <a:t>Threads @byslashie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36240" y="9857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591"/>
                </a:solidFill>
                <a:latin typeface="Consolas"/>
              </a:rPr>
              <a:t>斜槓姐姐 · @byslashie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